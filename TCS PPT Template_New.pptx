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  <p:sldMasterId id="2147483678" r:id="rId3"/>
    <p:sldMasterId id="2147483679" r:id="rId4"/>
    <p:sldMasterId id="2147483680" r:id="rId5"/>
    <p:sldMasterId id="2147483681" r:id="rId6"/>
    <p:sldMasterId id="2147483682" r:id="rId7"/>
  </p:sldMasterIdLst>
  <p:notesMasterIdLst>
    <p:notesMasterId r:id="rId10"/>
  </p:notesMasterIdLst>
  <p:sldIdLst>
    <p:sldId id="256" r:id="rId8"/>
    <p:sldId id="257" r:id="rId9"/>
  </p:sldIdLst>
  <p:sldSz cx="9144000" cy="5143500" type="screen16x9"/>
  <p:notesSz cx="20104100" cy="11315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>
            <a:spLocks noGrp="1"/>
          </p:cNvSpPr>
          <p:nvPr>
            <p:ph type="pic" idx="3"/>
          </p:nvPr>
        </p:nvSpPr>
        <p:spPr>
          <a:xfrm>
            <a:off x="4398264" y="1354933"/>
            <a:ext cx="4745736" cy="316309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ctrTitle"/>
          </p:nvPr>
        </p:nvSpPr>
        <p:spPr>
          <a:xfrm>
            <a:off x="517491" y="663191"/>
            <a:ext cx="3861079" cy="214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b" anchorCtr="0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606043" y="3414687"/>
            <a:ext cx="377252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200"/>
              <a:buNone/>
              <a:defRPr sz="1200" b="1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2"/>
          </p:nvPr>
        </p:nvSpPr>
        <p:spPr>
          <a:xfrm>
            <a:off x="606043" y="3696593"/>
            <a:ext cx="3772527" cy="11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1" name="Google Shape;31;p3" title="Verticle Rule Line"/>
          <p:cNvCxnSpPr/>
          <p:nvPr/>
        </p:nvCxnSpPr>
        <p:spPr>
          <a:xfrm rot="10800000">
            <a:off x="647451" y="3062950"/>
            <a:ext cx="939906" cy="0"/>
          </a:xfrm>
          <a:prstGeom prst="straightConnector1">
            <a:avLst/>
          </a:prstGeom>
          <a:noFill/>
          <a:ln w="76200" cap="flat" cmpd="sng">
            <a:solidFill>
              <a:schemeClr val="accent2">
                <a:alpha val="50196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2" name="Google Shape;32;p3"/>
          <p:cNvSpPr>
            <a:spLocks noGrp="1"/>
          </p:cNvSpPr>
          <p:nvPr>
            <p:ph type="pic" idx="3"/>
          </p:nvPr>
        </p:nvSpPr>
        <p:spPr>
          <a:xfrm>
            <a:off x="4656493" y="798611"/>
            <a:ext cx="3663542" cy="3768364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287191" y="2136845"/>
            <a:ext cx="4042988" cy="2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281238" y="4364872"/>
            <a:ext cx="133161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281238" y="4364871"/>
            <a:ext cx="133161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287191" y="2136845"/>
            <a:ext cx="4042988" cy="2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281238" y="4364871"/>
            <a:ext cx="133161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575899" y="330575"/>
            <a:ext cx="7879790" cy="43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2400"/>
              <a:buFont typeface="Calibri"/>
              <a:buNone/>
              <a:defRPr sz="24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1" name="Google Shape;71;p12" title="Verticle Rule Line"/>
          <p:cNvCxnSpPr/>
          <p:nvPr/>
        </p:nvCxnSpPr>
        <p:spPr>
          <a:xfrm rot="10800000">
            <a:off x="639914" y="1028160"/>
            <a:ext cx="939906" cy="0"/>
          </a:xfrm>
          <a:prstGeom prst="straightConnector1">
            <a:avLst/>
          </a:prstGeom>
          <a:noFill/>
          <a:ln w="76200" cap="flat" cmpd="sng">
            <a:solidFill>
              <a:schemeClr val="accent2">
                <a:alpha val="50196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75899" y="4637626"/>
            <a:ext cx="23707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75602" y="4637626"/>
            <a:ext cx="194498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750" b="1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2256485" y="1122906"/>
            <a:ext cx="6199584" cy="340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287191" y="2136845"/>
            <a:ext cx="4042988" cy="2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281238" y="4364872"/>
            <a:ext cx="133161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>
            <a:spLocks noGrp="1"/>
          </p:cNvSpPr>
          <p:nvPr>
            <p:ph type="pic" idx="3"/>
          </p:nvPr>
        </p:nvSpPr>
        <p:spPr>
          <a:xfrm>
            <a:off x="4398264" y="1354933"/>
            <a:ext cx="4745736" cy="316309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title"/>
          </p:nvPr>
        </p:nvSpPr>
        <p:spPr>
          <a:xfrm>
            <a:off x="277814" y="2227764"/>
            <a:ext cx="2650475" cy="6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9400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E84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91079" y="273502"/>
            <a:ext cx="107556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" name="Google Shape;14;p1"/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oogle Shape;16;p1"/>
          <p:cNvGrpSpPr/>
          <p:nvPr/>
        </p:nvGrpSpPr>
        <p:grpSpPr>
          <a:xfrm>
            <a:off x="219079" y="607113"/>
            <a:ext cx="8647111" cy="504364"/>
            <a:chOff x="219077" y="100726"/>
            <a:chExt cx="8647111" cy="504364"/>
          </a:xfrm>
        </p:grpSpPr>
        <p:pic>
          <p:nvPicPr>
            <p:cNvPr id="17" name="Google Shape;17;p1"/>
            <p:cNvPicPr preferRelativeResize="0"/>
            <p:nvPr/>
          </p:nvPicPr>
          <p:blipFill rotWithShape="1">
            <a:blip r:embed="rId4">
              <a:alphaModFix/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" descr="A white logo on a black background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oogle Shape;19;p1"/>
          <p:cNvGrpSpPr/>
          <p:nvPr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20" name="Google Shape;20;p1"/>
            <p:cNvPicPr preferRelativeResize="0"/>
            <p:nvPr/>
          </p:nvPicPr>
          <p:blipFill rotWithShape="1">
            <a:blip r:embed="rId6">
              <a:alphaModFix/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" descr="A white logo on a black background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4E84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" name="Google Shape;38;p4"/>
          <p:cNvPicPr preferRelativeResize="0"/>
          <p:nvPr/>
        </p:nvPicPr>
        <p:blipFill rotWithShape="1">
          <a:blip r:embed="rId10">
            <a:alphaModFix/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descr="A close-up of a sig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5750" y="4733063"/>
            <a:ext cx="1266904" cy="30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>
            <a:off x="4565002" y="4942596"/>
            <a:ext cx="0" cy="127170"/>
          </a:xfrm>
          <a:prstGeom prst="straightConnector1">
            <a:avLst/>
          </a:prstGeom>
          <a:noFill/>
          <a:ln w="12700" cap="flat" cmpd="sng">
            <a:solidFill>
              <a:srgbClr val="808285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 rotWithShape="1">
          <a:blip r:embed="rId6">
            <a:alphaModFix/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descr="A close-up of a sig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5750" y="4733063"/>
            <a:ext cx="1266904" cy="30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3"/>
          <p:cNvCxnSpPr/>
          <p:nvPr/>
        </p:nvCxnSpPr>
        <p:spPr>
          <a:xfrm>
            <a:off x="4565002" y="4942596"/>
            <a:ext cx="0" cy="127170"/>
          </a:xfrm>
          <a:prstGeom prst="straightConnector1">
            <a:avLst/>
          </a:prstGeom>
          <a:noFill/>
          <a:ln w="12700" cap="flat" cmpd="sng">
            <a:solidFill>
              <a:srgbClr val="808285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28" name="Google Shape;128;p23"/>
          <p:cNvGrpSpPr/>
          <p:nvPr/>
        </p:nvGrpSpPr>
        <p:grpSpPr>
          <a:xfrm>
            <a:off x="222334" y="4643165"/>
            <a:ext cx="8653640" cy="412511"/>
            <a:chOff x="254128" y="4647628"/>
            <a:chExt cx="8604122" cy="410150"/>
          </a:xfrm>
        </p:grpSpPr>
        <p:pic>
          <p:nvPicPr>
            <p:cNvPr id="129" name="Google Shape;129;p23"/>
            <p:cNvPicPr preferRelativeResize="0"/>
            <p:nvPr/>
          </p:nvPicPr>
          <p:blipFill rotWithShape="1">
            <a:blip r:embed="rId8">
              <a:alphaModFix/>
            </a:blip>
            <a:srcRect t="36534" b="36534"/>
            <a:stretch/>
          </p:blipFill>
          <p:spPr>
            <a:xfrm>
              <a:off x="254128" y="4708634"/>
              <a:ext cx="1296349" cy="34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3"/>
            <p:cNvPicPr preferRelativeResize="0"/>
            <p:nvPr/>
          </p:nvPicPr>
          <p:blipFill rotWithShape="1">
            <a:blip r:embed="rId9">
              <a:alphaModFix/>
            </a:blip>
            <a:srcRect l="728" r="728"/>
            <a:stretch/>
          </p:blipFill>
          <p:spPr>
            <a:xfrm>
              <a:off x="8422281" y="4647628"/>
              <a:ext cx="435969" cy="3879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F4F3F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E84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28"/>
          <p:cNvCxnSpPr/>
          <p:nvPr/>
        </p:nvCxnSpPr>
        <p:spPr>
          <a:xfrm>
            <a:off x="91079" y="273502"/>
            <a:ext cx="107556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28"/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8"/>
          <p:cNvGrpSpPr/>
          <p:nvPr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155" name="Google Shape;155;p28"/>
            <p:cNvPicPr preferRelativeResize="0"/>
            <p:nvPr/>
          </p:nvPicPr>
          <p:blipFill rotWithShape="1">
            <a:blip r:embed="rId3">
              <a:alphaModFix/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8" descr="A white logo on a black background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F4F3F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E84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30"/>
          <p:cNvCxnSpPr/>
          <p:nvPr/>
        </p:nvCxnSpPr>
        <p:spPr>
          <a:xfrm>
            <a:off x="91079" y="273502"/>
            <a:ext cx="107556" cy="0"/>
          </a:xfrm>
          <a:prstGeom prst="straightConnector1">
            <a:avLst/>
          </a:prstGeom>
          <a:noFill/>
          <a:ln w="12700" cap="flat" cmpd="sng">
            <a:solidFill>
              <a:srgbClr val="E4116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7" name="Google Shape;167;p30"/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30"/>
          <p:cNvGrpSpPr/>
          <p:nvPr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170" name="Google Shape;170;p30"/>
            <p:cNvPicPr preferRelativeResize="0"/>
            <p:nvPr/>
          </p:nvPicPr>
          <p:blipFill rotWithShape="1">
            <a:blip r:embed="rId3">
              <a:alphaModFix/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30" descr="A white logo on a black background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body" idx="1"/>
          </p:nvPr>
        </p:nvSpPr>
        <p:spPr>
          <a:xfrm>
            <a:off x="294001" y="2136844"/>
            <a:ext cx="4042988" cy="2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E84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32"/>
          <p:cNvCxnSpPr/>
          <p:nvPr/>
        </p:nvCxnSpPr>
        <p:spPr>
          <a:xfrm>
            <a:off x="91079" y="273502"/>
            <a:ext cx="107556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32"/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" name="Google Shape;183;p32"/>
          <p:cNvGrpSpPr/>
          <p:nvPr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184" name="Google Shape;184;p32"/>
            <p:cNvPicPr preferRelativeResize="0"/>
            <p:nvPr/>
          </p:nvPicPr>
          <p:blipFill rotWithShape="1">
            <a:blip r:embed="rId3">
              <a:alphaModFix/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2" descr="A white logo on a black background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>
            <a:off x="277814" y="2227764"/>
            <a:ext cx="2650475" cy="6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34"/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34"/>
          <p:cNvCxnSpPr/>
          <p:nvPr/>
        </p:nvCxnSpPr>
        <p:spPr>
          <a:xfrm>
            <a:off x="91079" y="273502"/>
            <a:ext cx="107556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34"/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34"/>
          <p:cNvGrpSpPr/>
          <p:nvPr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197" name="Google Shape;197;p34"/>
            <p:cNvPicPr preferRelativeResize="0"/>
            <p:nvPr/>
          </p:nvPicPr>
          <p:blipFill rotWithShape="1">
            <a:blip r:embed="rId3">
              <a:alphaModFix/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4" descr="A white logo on a black background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title"/>
          </p:nvPr>
        </p:nvSpPr>
        <p:spPr>
          <a:xfrm>
            <a:off x="281238" y="729001"/>
            <a:ext cx="4042988" cy="38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/>
          <a:p>
            <a:pPr lvl="0"/>
            <a:r>
              <a:rPr lang="en-IN" sz="2000" dirty="0"/>
              <a:t>Sustainable Data </a:t>
            </a:r>
            <a:r>
              <a:rPr lang="en-IN" sz="2000" dirty="0" err="1"/>
              <a:t>Center</a:t>
            </a:r>
            <a:r>
              <a:rPr lang="en-IN" sz="2000" dirty="0"/>
              <a:t> Solution – Client Decision Challenge</a:t>
            </a:r>
            <a:endParaRPr sz="2000" dirty="0"/>
          </a:p>
        </p:txBody>
      </p:sp>
      <p:sp>
        <p:nvSpPr>
          <p:cNvPr id="206" name="Google Shape;206;p36"/>
          <p:cNvSpPr txBox="1">
            <a:spLocks noGrp="1"/>
          </p:cNvSpPr>
          <p:nvPr>
            <p:ph type="body" idx="1"/>
          </p:nvPr>
        </p:nvSpPr>
        <p:spPr>
          <a:xfrm>
            <a:off x="281238" y="1416112"/>
            <a:ext cx="4042988" cy="260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r>
              <a:rPr lang="en-IN" sz="1400" b="1" dirty="0"/>
              <a:t>Traditional Approach</a:t>
            </a:r>
            <a:endParaRPr lang="en-IN" sz="14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Lower cost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Faster implementation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Higher carbon footprint </a:t>
            </a:r>
          </a:p>
          <a:p>
            <a:r>
              <a:rPr lang="en-IN" sz="1400" b="1" dirty="0"/>
              <a:t>Green Technology Approach</a:t>
            </a:r>
            <a:endParaRPr lang="en-IN" sz="14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Energy efficient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Environmentally friendly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Higher initial investment </a:t>
            </a:r>
          </a:p>
          <a:p>
            <a:r>
              <a:rPr lang="en-IN" sz="1400" b="1" dirty="0"/>
              <a:t>Challenge</a:t>
            </a:r>
            <a:endParaRPr lang="en-IN" sz="14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Client is concerned about cost and timelines.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Leadership must balance business needs and sustainability goals. </a:t>
            </a:r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February 4, 2026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 rotWithShape="1">
          <a:blip r:embed="rId3">
            <a:alphaModFix/>
          </a:blip>
          <a:srcRect l="7138" r="7138"/>
          <a:stretch/>
        </p:blipFill>
        <p:spPr>
          <a:xfrm>
            <a:off x="4398264" y="1201777"/>
            <a:ext cx="4745736" cy="3163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>
            <a:spLocks noGrp="1"/>
          </p:cNvSpPr>
          <p:nvPr>
            <p:ph type="title"/>
          </p:nvPr>
        </p:nvSpPr>
        <p:spPr>
          <a:xfrm>
            <a:off x="344869" y="125142"/>
            <a:ext cx="78861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100"/>
            </a:pPr>
            <a:r>
              <a:rPr lang="en-IN" dirty="0"/>
              <a:t>Proposed Solution</a:t>
            </a:r>
            <a:endParaRPr dirty="0"/>
          </a:p>
        </p:txBody>
      </p:sp>
      <p:sp>
        <p:nvSpPr>
          <p:cNvPr id="214" name="Google Shape;214;p37"/>
          <p:cNvSpPr txBox="1">
            <a:spLocks noGrp="1"/>
          </p:cNvSpPr>
          <p:nvPr>
            <p:ph type="ftr" idx="11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TCS confidential</a:t>
            </a:r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sldNum" idx="12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1" name="Google Shape;221;p37"/>
          <p:cNvSpPr txBox="1"/>
          <p:nvPr/>
        </p:nvSpPr>
        <p:spPr>
          <a:xfrm>
            <a:off x="344869" y="1209006"/>
            <a:ext cx="261461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Compare upfront costs with long-term savings. </a:t>
            </a:r>
          </a:p>
        </p:txBody>
      </p:sp>
      <p:sp>
        <p:nvSpPr>
          <p:cNvPr id="222" name="Google Shape;222;p37"/>
          <p:cNvSpPr/>
          <p:nvPr/>
        </p:nvSpPr>
        <p:spPr>
          <a:xfrm>
            <a:off x="344869" y="678042"/>
            <a:ext cx="3093790" cy="3138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19" lvl="0"/>
            <a:r>
              <a:rPr lang="en-US"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Analyze Cost &amp; Benefits</a:t>
            </a:r>
            <a:endParaRPr dirty="0"/>
          </a:p>
        </p:txBody>
      </p:sp>
      <p:sp>
        <p:nvSpPr>
          <p:cNvPr id="224" name="Google Shape;224;p37"/>
          <p:cNvSpPr/>
          <p:nvPr/>
        </p:nvSpPr>
        <p:spPr>
          <a:xfrm>
            <a:off x="5611742" y="2162627"/>
            <a:ext cx="22373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222;p37">
            <a:extLst>
              <a:ext uri="{FF2B5EF4-FFF2-40B4-BE49-F238E27FC236}">
                <a16:creationId xmlns:a16="http://schemas.microsoft.com/office/drawing/2014/main" id="{1FB9F5F3-549C-2D97-4D20-EC57E497CBA3}"/>
              </a:ext>
            </a:extLst>
          </p:cNvPr>
          <p:cNvSpPr/>
          <p:nvPr/>
        </p:nvSpPr>
        <p:spPr>
          <a:xfrm>
            <a:off x="344870" y="2550706"/>
            <a:ext cx="3093789" cy="3138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19" lvl="0"/>
            <a:r>
              <a:rPr lang="en-US"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Engage Stakeholders</a:t>
            </a:r>
            <a:endParaRPr dirty="0"/>
          </a:p>
        </p:txBody>
      </p:sp>
      <p:sp>
        <p:nvSpPr>
          <p:cNvPr id="3" name="Google Shape;221;p37">
            <a:extLst>
              <a:ext uri="{FF2B5EF4-FFF2-40B4-BE49-F238E27FC236}">
                <a16:creationId xmlns:a16="http://schemas.microsoft.com/office/drawing/2014/main" id="{908DDF62-777A-A8DA-6986-B226BF9A2CDA}"/>
              </a:ext>
            </a:extLst>
          </p:cNvPr>
          <p:cNvSpPr txBox="1"/>
          <p:nvPr/>
        </p:nvSpPr>
        <p:spPr>
          <a:xfrm>
            <a:off x="344869" y="3063370"/>
            <a:ext cx="26146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Discuss concerns with client and leadership teams. </a:t>
            </a:r>
          </a:p>
        </p:txBody>
      </p:sp>
      <p:sp>
        <p:nvSpPr>
          <p:cNvPr id="4" name="Google Shape;222;p37">
            <a:extLst>
              <a:ext uri="{FF2B5EF4-FFF2-40B4-BE49-F238E27FC236}">
                <a16:creationId xmlns:a16="http://schemas.microsoft.com/office/drawing/2014/main" id="{F7D4235B-F635-C548-B528-39870268AECF}"/>
              </a:ext>
            </a:extLst>
          </p:cNvPr>
          <p:cNvSpPr/>
          <p:nvPr/>
        </p:nvSpPr>
        <p:spPr>
          <a:xfrm>
            <a:off x="4751987" y="660625"/>
            <a:ext cx="3097099" cy="3138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19" lvl="0"/>
            <a:r>
              <a:rPr lang="en-US"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Propose a Hybrid Solution</a:t>
            </a:r>
            <a:endParaRPr dirty="0"/>
          </a:p>
        </p:txBody>
      </p:sp>
      <p:sp>
        <p:nvSpPr>
          <p:cNvPr id="5" name="Google Shape;221;p37">
            <a:extLst>
              <a:ext uri="{FF2B5EF4-FFF2-40B4-BE49-F238E27FC236}">
                <a16:creationId xmlns:a16="http://schemas.microsoft.com/office/drawing/2014/main" id="{33E02108-2B66-380E-0832-3A5753C52FF3}"/>
              </a:ext>
            </a:extLst>
          </p:cNvPr>
          <p:cNvSpPr txBox="1"/>
          <p:nvPr/>
        </p:nvSpPr>
        <p:spPr>
          <a:xfrm>
            <a:off x="4751987" y="1209006"/>
            <a:ext cx="2614614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green technologies where feasible.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Balance budget, timeline, and sustainability.</a:t>
            </a:r>
            <a:endParaRPr lang="en-IN" sz="1600" dirty="0"/>
          </a:p>
        </p:txBody>
      </p:sp>
      <p:sp>
        <p:nvSpPr>
          <p:cNvPr id="6" name="Google Shape;222;p37">
            <a:extLst>
              <a:ext uri="{FF2B5EF4-FFF2-40B4-BE49-F238E27FC236}">
                <a16:creationId xmlns:a16="http://schemas.microsoft.com/office/drawing/2014/main" id="{5155F080-545B-D3D6-1933-73E6F98FAAC0}"/>
              </a:ext>
            </a:extLst>
          </p:cNvPr>
          <p:cNvSpPr/>
          <p:nvPr/>
        </p:nvSpPr>
        <p:spPr>
          <a:xfrm>
            <a:off x="4751987" y="2550706"/>
            <a:ext cx="3093789" cy="3138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19" lvl="0"/>
            <a:r>
              <a:rPr lang="en-US"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Highlight Long-Term Value</a:t>
            </a:r>
            <a:endParaRPr dirty="0"/>
          </a:p>
        </p:txBody>
      </p:sp>
      <p:sp>
        <p:nvSpPr>
          <p:cNvPr id="7" name="Google Shape;221;p37">
            <a:extLst>
              <a:ext uri="{FF2B5EF4-FFF2-40B4-BE49-F238E27FC236}">
                <a16:creationId xmlns:a16="http://schemas.microsoft.com/office/drawing/2014/main" id="{A1DA6505-FD87-CF04-3EAB-1F7B7BB6B845}"/>
              </a:ext>
            </a:extLst>
          </p:cNvPr>
          <p:cNvSpPr txBox="1"/>
          <p:nvPr/>
        </p:nvSpPr>
        <p:spPr>
          <a:xfrm>
            <a:off x="4751987" y="3063370"/>
            <a:ext cx="261461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Reduced energy costs.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environmental impact.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brand reputation.</a:t>
            </a:r>
            <a:endParaRPr lang="en-I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_White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tent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itle Slide_Black Blue_without imag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Title Slide_White Blue_without imag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Divider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On-screen Show (16:9)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Title Slide_White Blue 1</vt:lpstr>
      <vt:lpstr>Content Slide_White</vt:lpstr>
      <vt:lpstr>1_Content Slide_Black</vt:lpstr>
      <vt:lpstr>Title Slide_Black Blue 1</vt:lpstr>
      <vt:lpstr>1_Title Slide_Black Blue_without image</vt:lpstr>
      <vt:lpstr>1_Title Slide_White Blue_without image</vt:lpstr>
      <vt:lpstr>1_Divider Slide_White</vt:lpstr>
      <vt:lpstr>Sustainable Data Center Solution – Client Decision Challenge</vt:lpstr>
      <vt:lpstr>Proposed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Spider Man</cp:lastModifiedBy>
  <cp:revision>1</cp:revision>
  <dcterms:modified xsi:type="dcterms:W3CDTF">2026-06-23T18:49:27Z</dcterms:modified>
</cp:coreProperties>
</file>